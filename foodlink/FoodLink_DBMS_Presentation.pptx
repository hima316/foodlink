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1A7A4A">
              <a:alpha val="25000"/>
            </a:srgbClr>
          </a:solidFill>
          <a:ln w="12700">
            <a:solidFill>
              <a:srgbClr val="1A7A4A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560320"/>
            <a:ext cx="3657600" cy="3657600"/>
          </a:xfrm>
          <a:prstGeom prst="ellipse">
            <a:avLst/>
          </a:prstGeom>
          <a:solidFill>
            <a:srgbClr val="22A05A">
              <a:alpha val="18000"/>
            </a:srgbClr>
          </a:solidFill>
          <a:ln w="12700">
            <a:solidFill>
              <a:srgbClr val="22A05A">
                <a:alpha val="18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502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4ADE80"/>
                </a:solidFill>
              </a:rPr>
              <a:t>DBMS COURSE PROJECT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FoodLink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548640" y="25146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Redistribution System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48640" y="3246120"/>
            <a:ext cx="2286000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34290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Connecting Donors with NGOs  ·  Reducing Food Waste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MySQL · Node.js · React.js · Row-Level Locking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0" y="4617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B.Tech CSE · DBMS Lab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1F1A"/>
          </a:solidFill>
          <a:ln w="12700">
            <a:solidFill>
              <a:srgbClr val="0D1F1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6400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" y="160020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Statement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228600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DE80"/>
                </a:solidFill>
              </a:rPr>
              <a:t>Why does this problem exist?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3794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274320" y="44074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of food produced in India is wasted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0" y="411480"/>
            <a:ext cx="5212080" cy="9601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886200" y="4846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🍲 Food Surplus Goes Unused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86200" y="8412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Hotels, restaurants &amp; events discard tons of edible food daily — no channel to redirect it.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0" y="1508760"/>
            <a:ext cx="5212080" cy="9601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886200" y="15819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🏘️ NGOs Lack Discovery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886200" y="19385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Charitable organizations cannot easily discover available food near them in real time.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0" y="2606040"/>
            <a:ext cx="5212080" cy="9601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886200" y="267919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⚡ Race Conditions in Allocation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886200" y="30358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Multiple NGOs requesting the same limited food stock leads to data inconsistency without proper DB controls.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0" y="3703320"/>
            <a:ext cx="5212080" cy="9601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886200" y="37764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📋 No Accountability Trail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886200" y="41330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Donations have no structured record — impossible to track what was given, when, and to whom.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A full-stack DBMS-powered platform bridging food donors and NGOs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645920"/>
            <a:ext cx="457200" cy="45720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6916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6642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Donor Portal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30352" y="217627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List surplus food with quantity, type, expiry, and location details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00400" y="146304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64992" y="164592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169164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13632" y="16642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NGO Dashboard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64992" y="217627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Browse prioritized food listings filtered by location &amp; urgency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35040" y="146304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99632" y="164592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69164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48272" y="16642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Concurrency Control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199632" y="217627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Row-level locking prevents double-allocation in simultaneous requests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65760" y="324612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30352" y="342900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347472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78992" y="34472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3NF Database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30352" y="3959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Normalized MySQL schema: Cities, Users, Food_Listings, Requests, Transactions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00400" y="324612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364992" y="3429000"/>
            <a:ext cx="457200" cy="45720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856" y="3474720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13632" y="34472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Priority Algorithm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364992" y="3959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Auto-ranks food by expiry (&lt;5h), pincode, city, and state proximity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035040" y="324612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99632" y="342900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6" y="3474720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48272" y="34472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Partial Allocation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199632" y="3959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Multiple NGOs share a single listing — no food goes untouched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 Flow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</a:rPr>
              <a:t>Two-role system — every action flows through the database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1371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DE80"/>
                </a:solidFill>
              </a:rPr>
              <a:t>DONOR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737360"/>
            <a:ext cx="1508760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73736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Signup 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Donor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83080" y="2084832"/>
            <a:ext cx="182880" cy="12801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65960" y="1737360"/>
            <a:ext cx="1508760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173736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Add Food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Listing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2084832"/>
            <a:ext cx="182880" cy="12801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1737360"/>
            <a:ext cx="1508760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73736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Set Expiry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&amp; Location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66360" y="2084832"/>
            <a:ext cx="182880" cy="12801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49240" y="1737360"/>
            <a:ext cx="1508760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0" y="173736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View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Requests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2084832"/>
            <a:ext cx="182880" cy="12801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1737360"/>
            <a:ext cx="1508760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173736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Transactions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Logged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2880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3C5FD"/>
                </a:solidFill>
              </a:rPr>
              <a:t>NGO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246120"/>
            <a:ext cx="150876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24612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Signup 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NGO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783080" y="3593592"/>
            <a:ext cx="182880" cy="128016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65960" y="3246120"/>
            <a:ext cx="150876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65960" y="324612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Browse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Priority Feed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74720" y="3593592"/>
            <a:ext cx="182880" cy="128016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0" y="3246120"/>
            <a:ext cx="150876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324612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Submit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Request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66360" y="3593592"/>
            <a:ext cx="182880" cy="128016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49240" y="3246120"/>
            <a:ext cx="150876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49240" y="324612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Partial/Full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Allocation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0" y="3593592"/>
            <a:ext cx="182880" cy="128016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40880" y="3246120"/>
            <a:ext cx="150876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0" y="324612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Track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Cancel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926080" y="2606040"/>
            <a:ext cx="3291840" cy="548640"/>
          </a:xfrm>
          <a:prstGeom prst="rect">
            <a:avLst/>
          </a:prstGeom>
          <a:solidFill>
            <a:srgbClr val="1F2937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2679192"/>
            <a:ext cx="365760" cy="36576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3566160" y="26791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MySQL Database  ·  Transactions  ·  Row Locks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462272" y="2560320"/>
            <a:ext cx="0" cy="45720"/>
          </a:xfrm>
          <a:prstGeom prst="line">
            <a:avLst/>
          </a:prstGeom>
          <a:noFill/>
          <a:ln w="12700">
            <a:solidFill>
              <a:srgbClr val="4ADE80"/>
            </a:solidFill>
            <a:prstDash val="dash"/>
          </a:ln>
        </p:spPr>
      </p:sp>
      <p:sp>
        <p:nvSpPr>
          <p:cNvPr id="38" name="Shape 35"/>
          <p:cNvSpPr/>
          <p:nvPr/>
        </p:nvSpPr>
        <p:spPr>
          <a:xfrm>
            <a:off x="4462272" y="3154680"/>
            <a:ext cx="0" cy="45720"/>
          </a:xfrm>
          <a:prstGeom prst="line">
            <a:avLst/>
          </a:prstGeom>
          <a:noFill/>
          <a:ln w="12700">
            <a:solidFill>
              <a:srgbClr val="93C5FD"/>
            </a:solidFill>
            <a:prstDash val="dash"/>
          </a:ln>
        </p:spPr>
      </p:sp>
      <p:sp>
        <p:nvSpPr>
          <p:cNvPr id="39" name="Text 36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Every request flows through SQL transactions with row-level locking for concurrency safety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 Diagram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3NF — 5 entities, fully normalized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132320" y="201168"/>
            <a:ext cx="1737360" cy="932688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0" y="201168"/>
            <a:ext cx="173736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2011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Cities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05472" y="5943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🔑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0" y="5943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city_id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06640" y="8869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city_name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210312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234440"/>
            <a:ext cx="210312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2344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" y="16276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🔑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16276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user_id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1920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name, email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2128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password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50545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role (donor|ngo)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834640"/>
            <a:ext cx="146304" cy="146304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79806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7A4A"/>
                </a:solidFill>
              </a:rPr>
              <a:t>city_id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0906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state, pincode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3832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contact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1234440"/>
            <a:ext cx="228600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1234440"/>
            <a:ext cx="22860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12344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Food_Listings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19272" y="16276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🔑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20440" y="16276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food_id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520440" y="19202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food_name, food_type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37560" y="2249424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221284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donor_id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520440" y="250545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is_veg, total_qty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520440" y="279806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remaining_qty, unit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20440" y="30906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expiry_time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37560" y="3419856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0440" y="33832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city_id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520440" y="36758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state, pincode, status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583680" y="1508760"/>
            <a:ext cx="228600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583680" y="1508760"/>
            <a:ext cx="22860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15087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Requests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656832" y="190195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🔑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58000" y="190195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request_id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675120" y="2231136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0" y="21945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</a:rPr>
              <a:t>food_id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675120" y="2523744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0" y="248716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</a:rPr>
              <a:t>ngo_id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858000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requested_qty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858000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allocated_qty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858000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status, request_time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828800" y="3794760"/>
            <a:ext cx="530352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828800" y="3794760"/>
            <a:ext cx="530352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28800" y="37947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Transactions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901952" y="418795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🔑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103120" y="418795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transaction_id  ·  FK food_id  ·  FK donor_id  ·  FK ngo_id  ·  allocated_qty  ·  completed_at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377440" y="1828800"/>
            <a:ext cx="86868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ysDash"/>
          </a:ln>
        </p:spPr>
      </p:sp>
      <p:sp>
        <p:nvSpPr>
          <p:cNvPr id="54" name="Shape 52"/>
          <p:cNvSpPr/>
          <p:nvPr/>
        </p:nvSpPr>
        <p:spPr>
          <a:xfrm>
            <a:off x="2446020" y="1700784"/>
            <a:ext cx="7315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446020" y="170078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donates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377440" y="2514600"/>
            <a:ext cx="420624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ysDash"/>
          </a:ln>
        </p:spPr>
      </p:sp>
      <p:sp>
        <p:nvSpPr>
          <p:cNvPr id="57" name="Shape 55"/>
          <p:cNvSpPr/>
          <p:nvPr/>
        </p:nvSpPr>
        <p:spPr>
          <a:xfrm>
            <a:off x="4114800" y="2386584"/>
            <a:ext cx="7315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14800" y="238658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requests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532120" y="2194560"/>
            <a:ext cx="105156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ysDash"/>
          </a:ln>
        </p:spPr>
      </p:sp>
      <p:sp>
        <p:nvSpPr>
          <p:cNvPr id="60" name="Shape 58"/>
          <p:cNvSpPr/>
          <p:nvPr/>
        </p:nvSpPr>
        <p:spPr>
          <a:xfrm>
            <a:off x="5692140" y="2066544"/>
            <a:ext cx="7315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92140" y="20665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has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377440" y="1005840"/>
            <a:ext cx="4754880" cy="457200"/>
          </a:xfrm>
          <a:prstGeom prst="line">
            <a:avLst/>
          </a:prstGeom>
          <a:noFill/>
          <a:ln w="12700">
            <a:solidFill>
              <a:srgbClr val="1A7A4A"/>
            </a:solidFill>
            <a:prstDash val="sysDash"/>
          </a:ln>
        </p:spPr>
      </p:sp>
      <p:sp>
        <p:nvSpPr>
          <p:cNvPr id="63" name="Shape 61"/>
          <p:cNvSpPr/>
          <p:nvPr/>
        </p:nvSpPr>
        <p:spPr>
          <a:xfrm>
            <a:off x="4389120" y="1106424"/>
            <a:ext cx="7315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389120" y="110642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A4A"/>
                </a:solidFill>
              </a:rPr>
              <a:t>in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532120" y="1115568"/>
            <a:ext cx="1600200" cy="347472"/>
          </a:xfrm>
          <a:prstGeom prst="line">
            <a:avLst/>
          </a:prstGeom>
          <a:noFill/>
          <a:ln w="12700">
            <a:solidFill>
              <a:srgbClr val="F59E0B"/>
            </a:solidFill>
            <a:prstDash val="sysDash"/>
          </a:ln>
        </p:spPr>
      </p:sp>
      <p:sp>
        <p:nvSpPr>
          <p:cNvPr id="66" name="Shape 64"/>
          <p:cNvSpPr/>
          <p:nvPr/>
        </p:nvSpPr>
        <p:spPr>
          <a:xfrm>
            <a:off x="5966460" y="1161288"/>
            <a:ext cx="7315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966460" y="116128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located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389120" y="3703320"/>
            <a:ext cx="0" cy="91440"/>
          </a:xfrm>
          <a:prstGeom prst="line">
            <a:avLst/>
          </a:prstGeom>
          <a:noFill/>
          <a:ln w="12700">
            <a:solidFill>
              <a:srgbClr val="DC2626"/>
            </a:solidFill>
            <a:prstDash val="sysDash"/>
          </a:ln>
        </p:spPr>
      </p:sp>
      <p:sp>
        <p:nvSpPr>
          <p:cNvPr id="69" name="Shape 67"/>
          <p:cNvSpPr/>
          <p:nvPr/>
        </p:nvSpPr>
        <p:spPr>
          <a:xfrm>
            <a:off x="4023360" y="3621024"/>
            <a:ext cx="7315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023360" y="362102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logs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Design (3NF)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</a:rPr>
              <a:t>All non-key attributes depend on the whole primary key — no transitive dependencies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1417320" cy="65836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Cities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271016"/>
            <a:ext cx="6675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city_id PK · city_name UNIQUE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984248"/>
            <a:ext cx="841248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22A0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984248"/>
            <a:ext cx="1417320" cy="658368"/>
          </a:xfrm>
          <a:prstGeom prst="rect">
            <a:avLst/>
          </a:prstGeom>
          <a:solidFill>
            <a:srgbClr val="22A05A"/>
          </a:solidFill>
          <a:ln w="12700">
            <a:solidFill>
              <a:srgbClr val="22A0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84248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2020824"/>
            <a:ext cx="6675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PK · name · email UNIQUE · password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 ENUM('donor','ngo') · city_id FK · state · pincode · contact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734056"/>
            <a:ext cx="841248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734056"/>
            <a:ext cx="141732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734056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Food_Listings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2770632"/>
            <a:ext cx="6675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food_id PK · donor_id FK · food_name · food_type · is_veg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total_quantity · remaining_quantity · unit · expiry_time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city_id FK · state · pincode · status ENUM · description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483864"/>
            <a:ext cx="841248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483864"/>
            <a:ext cx="141732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483864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Requests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3520440"/>
            <a:ext cx="6675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request_id PK · food_id FK · ngo_id FK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requested_quantity · allocated_quantity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ENUM('pending','approved','partially_approved','rejected','cancelled')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233672"/>
            <a:ext cx="841248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233672"/>
            <a:ext cx="1417320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233672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Transactions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4270248"/>
            <a:ext cx="6675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transaction_id PK · food_id FK · donor_id FK · ngo_id FK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allocated_quantity · completed_at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</a:rPr>
              <a:t>🔗  All foreign keys reference parent tables with ON DELETE CASCADE / SET NULL constraints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Normalization Applied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1188720"/>
          </a:xfrm>
          <a:prstGeom prst="rect">
            <a:avLst/>
          </a:prstGeom>
          <a:solidFill>
            <a:srgbClr val="F0FDF4"/>
          </a:solidFill>
          <a:ln w="19050">
            <a:solidFill>
              <a:srgbClr val="1A7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914400" cy="11887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1NF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111556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A"/>
                </a:solidFill>
              </a:rPr>
              <a:t>Atomic values, no repeating groups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50876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→  Each column holds a single value — no comma-separated lists of NGO IDs or food items. Every row uniquely identified by its PK.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8412480" cy="1188720"/>
          </a:xfrm>
          <a:prstGeom prst="rect">
            <a:avLst/>
          </a:prstGeom>
          <a:solidFill>
            <a:srgbClr val="F0FDF4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331720"/>
            <a:ext cx="914400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3172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2NF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17320" y="244144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No partial dependencies on composite keys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8346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→  No composite PKs — all tables use single-column surrogate PKs (user_id, food_id, etc.). Every non-key attribute fully depends on the PK.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8412480" cy="1188720"/>
          </a:xfrm>
          <a:prstGeom prst="rect">
            <a:avLst/>
          </a:prstGeom>
          <a:solidFill>
            <a:srgbClr val="F0FDF4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657600"/>
            <a:ext cx="91440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5760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3NF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417320" y="376732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No transitive dependencies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416052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→  City data (city_name) moved to Cities table. Users only store city_id FK — city_name doesn't depend on user_id. Eliminates update anomalies.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4736592"/>
            <a:ext cx="8412480" cy="292608"/>
          </a:xfrm>
          <a:prstGeom prst="rect">
            <a:avLst/>
          </a:prstGeom>
          <a:solidFill>
            <a:srgbClr val="DCFCE7"/>
          </a:solidFill>
          <a:ln w="6350">
            <a:solidFill>
              <a:srgbClr val="1A7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</a:rPr>
              <a:t>Result: Eliminated insert / update / delete anomalies — single source of truth for city names and user roles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Constraints &amp; Keys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Enforcing data integrity at the database layer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14630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PRIMARY KEY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6184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Unique identifier for every table (user_id, food_id, request_id …)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48840"/>
            <a:ext cx="146304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488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FOREIGN KEY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328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Referential integrity: donor_id → Users, city_id → Cities, ngo_id → Users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063240"/>
            <a:ext cx="146304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632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UNIQUE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4472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email in Users — prevents duplicate registrations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97764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977640"/>
            <a:ext cx="14630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9776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ENUM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43616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role: ('donor','ngo') · status: ('available','partially_allocated','fully_allocated','expired')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23444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234440"/>
            <a:ext cx="173736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2344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NOT NULL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16184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name, email, password, total_quantity, expiry_time — mandatory fields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14884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148840"/>
            <a:ext cx="173736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1488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DEFAULT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25328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created_at / completed_at use CURRENT_TIMESTAMP — no manual inserts needed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06324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063240"/>
            <a:ext cx="173736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0632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ON DELETE CASCADE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34472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Deleting a donor removes all their food listings and requests automatically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97764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977640"/>
            <a:ext cx="17373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9776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CHECK (implicit)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43616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remaining_quantity ≤ total_quantity enforced via application + transaction logic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Concurrency Control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Race Condition Problem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502920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618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⚠   Scenario: Food listing has 10 kg remaining. Two NGOs request 8 kg simultaneously.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NGO-A Thread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91640" y="2240280"/>
            <a:ext cx="0" cy="2468880"/>
          </a:xfrm>
          <a:prstGeom prst="line">
            <a:avLst/>
          </a:prstGeom>
          <a:noFill/>
          <a:ln w="12700">
            <a:solidFill>
              <a:srgbClr val="2563E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474720" y="1920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</a:rPr>
              <a:t>Database State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2240280"/>
            <a:ext cx="0" cy="2468880"/>
          </a:xfrm>
          <a:prstGeom prst="line">
            <a:avLst/>
          </a:prstGeom>
          <a:noFill/>
          <a:ln w="12700">
            <a:solidFill>
              <a:srgbClr val="4ADE8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583680" y="1920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7171"/>
                </a:solidFill>
              </a:rPr>
              <a:t>NGO-B Thread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09560" y="2240280"/>
            <a:ext cx="0" cy="2468880"/>
          </a:xfrm>
          <a:prstGeom prst="line">
            <a:avLst/>
          </a:prstGeom>
          <a:noFill/>
          <a:ln w="12700">
            <a:solidFill>
              <a:srgbClr val="F87171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11480" y="22860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remaining = 10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93008" y="2304288"/>
            <a:ext cx="2615184" cy="256032"/>
          </a:xfrm>
          <a:prstGeom prst="rect">
            <a:avLst/>
          </a:prstGeom>
          <a:solidFill>
            <a:srgbClr val="1F2937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2304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kg available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93008" y="2670048"/>
            <a:ext cx="2615184" cy="256032"/>
          </a:xfrm>
          <a:prstGeom prst="rect">
            <a:avLst/>
          </a:prstGeom>
          <a:solidFill>
            <a:srgbClr val="1F2937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26700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kg available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29400" y="26517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remaining = 10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0175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Decides: allocate 8 kg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93008" y="3035808"/>
            <a:ext cx="2615184" cy="256032"/>
          </a:xfrm>
          <a:prstGeom prst="rect">
            <a:avLst/>
          </a:prstGeom>
          <a:solidFill>
            <a:srgbClr val="1F2937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30358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kg available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93008" y="3401568"/>
            <a:ext cx="2615184" cy="256032"/>
          </a:xfrm>
          <a:prstGeom prst="rect">
            <a:avLst/>
          </a:prstGeom>
          <a:solidFill>
            <a:srgbClr val="1F2937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34015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kg available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29400" y="3383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Decides: allocate 8 kg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3749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remaining = 2 ✓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93008" y="3767328"/>
            <a:ext cx="2615184" cy="256032"/>
          </a:xfrm>
          <a:prstGeom prst="rect">
            <a:avLst/>
          </a:prstGeom>
          <a:solidFill>
            <a:srgbClr val="7F1D1D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37673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NOW 2 kg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93008" y="4133088"/>
            <a:ext cx="2615184" cy="256032"/>
          </a:xfrm>
          <a:prstGeom prst="rect">
            <a:avLst/>
          </a:prstGeom>
          <a:solidFill>
            <a:srgbClr val="7F1D1D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0440" y="41330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-6 kg !!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29400" y="41148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remaining = -6 ✗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Concurrency Control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Solution: SQL Transactions + Row-Level Locking (SELECT … FOR UPDATE)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5120640" cy="3337560"/>
          </a:xfrm>
          <a:prstGeom prst="rect">
            <a:avLst/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527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</a:rPr>
              <a:t>Backend — routes/requests.js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conn.beginTransaction();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94767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Row-level lock — blocks other writers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212140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[rows] = await conn.query(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29514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`SELECT * FROM Food_Listings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46888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WHERE food_id = ?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64261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FOR UPDATE`, [food_id]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81635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316382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Safe: only one thread reads at a time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33756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allocated =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51129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Math.min(requested, remaining);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85876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conn.query(UPDATE Food_Listings ..);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403250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conn.query(INSERT INTO Requests ..);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420624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conn.query(INSERT INTO Transactions);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455371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conn.commit();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0" y="137160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1371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F1A"/>
                </a:solidFill>
              </a:rPr>
              <a:t>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72200" y="13350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BEGIN TRANSACTION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16093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Wraps all DB operations in a single atomic unit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0" y="2130552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2130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F1A"/>
                </a:solidFill>
              </a:rPr>
              <a:t>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72200" y="20939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SELECT … FOR UPDATE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72200" y="23682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Acquires a row-level exclusive lock — other transactions block here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0" y="2889504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8895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F1A"/>
                </a:solidFill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72200" y="2852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Read &amp; Compute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72200" y="3127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Safely read remaining_qty and compute allocation amount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0" y="3648456"/>
            <a:ext cx="384048" cy="38404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3648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F1A"/>
                </a:solidFill>
              </a:rPr>
              <a:t>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7220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UPDATE + INSERT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72200" y="3886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Decrement remaining_qty, insert Request row, insert Transaction row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0" y="4407408"/>
            <a:ext cx="384048" cy="38404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0" y="4407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F1A"/>
                </a:solidFill>
              </a:rPr>
              <a:t>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172200" y="4370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COMMIT / ROLLBACK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72200" y="4645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Lock released — next queued transaction can now proceed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Guarantee: remaining_quantity can never go negative — even under 100 concurrent requests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ACID Transactions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Every food allocation is wrapped in a database transaction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1645920"/>
          </a:xfrm>
          <a:prstGeom prst="rect">
            <a:avLst/>
          </a:prstGeom>
          <a:solidFill>
            <a:srgbClr val="F0FDF4"/>
          </a:solidFill>
          <a:ln w="19050">
            <a:solidFill>
              <a:srgbClr val="1A7A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34440"/>
            <a:ext cx="822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A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1188720" y="1234440"/>
            <a:ext cx="36576" cy="16459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3990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A4A"/>
                </a:solidFill>
              </a:rPr>
              <a:t>Atomicity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8288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All three operations succeed together or all roll back: UPDATE Food_Listings, INSERT Requests, INSERT Transactions. No partial state.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114800" cy="1645920"/>
          </a:xfrm>
          <a:prstGeom prst="rect">
            <a:avLst/>
          </a:prstGeom>
          <a:solidFill>
            <a:srgbClr val="F0FDF4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234440"/>
            <a:ext cx="822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5200" dirty="0"/>
          </a:p>
        </p:txBody>
      </p:sp>
      <p:sp>
        <p:nvSpPr>
          <p:cNvPr id="11" name="Shape 9"/>
          <p:cNvSpPr/>
          <p:nvPr/>
        </p:nvSpPr>
        <p:spPr>
          <a:xfrm>
            <a:off x="5577840" y="1234440"/>
            <a:ext cx="36576" cy="1645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13990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Consistency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0" y="18288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remaining_quantity is always ≥ 0. Status transitions (available → partially_allocated → fully_allocated) are enforced within the same transaction.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4114800" cy="1645920"/>
          </a:xfrm>
          <a:prstGeom prst="rect">
            <a:avLst/>
          </a:prstGeom>
          <a:solidFill>
            <a:srgbClr val="F0FDF4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3063240"/>
            <a:ext cx="822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5200" dirty="0"/>
          </a:p>
        </p:txBody>
      </p:sp>
      <p:sp>
        <p:nvSpPr>
          <p:cNvPr id="16" name="Shape 14"/>
          <p:cNvSpPr/>
          <p:nvPr/>
        </p:nvSpPr>
        <p:spPr>
          <a:xfrm>
            <a:off x="1188720" y="3063240"/>
            <a:ext cx="36576" cy="1645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32278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Isolation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36576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SELECT … FOR UPDATE ensures concurrent NGO requests serialize. One sees stale data unless the lock is released — prevents dirty reads.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3063240"/>
            <a:ext cx="4114800" cy="1645920"/>
          </a:xfrm>
          <a:prstGeom prst="rect">
            <a:avLst/>
          </a:prstGeom>
          <a:solidFill>
            <a:srgbClr val="F0FDF4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3063240"/>
            <a:ext cx="822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5200" dirty="0"/>
          </a:p>
        </p:txBody>
      </p:sp>
      <p:sp>
        <p:nvSpPr>
          <p:cNvPr id="21" name="Shape 19"/>
          <p:cNvSpPr/>
          <p:nvPr/>
        </p:nvSpPr>
        <p:spPr>
          <a:xfrm>
            <a:off x="5577840" y="3063240"/>
            <a:ext cx="36576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32278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Durability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15000" y="36576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Once committed, the allocation record in Transactions is permanent. Even a server crash cannot undo a completed donation.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Joins &amp; Priority Query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</a:rPr>
              <a:t>Multi-table JOIN with computed priority score using CASE expression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5212080" cy="3456432"/>
          </a:xfrm>
          <a:prstGeom prst="rect">
            <a:avLst/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161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</a:rPr>
              <a:t>/api/food  GET — NGO Browse Query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5488" y="153619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f.*, c.city_name, u.name AS donor_name,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475488" y="171907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475488" y="190195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f.expiry_time &lt;=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475488" y="208483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DATE_ADD(NOW(), INTERVAL 5 HOUR)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475488" y="226771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THEN 4  -- expiry urgent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475488" y="245059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f.pincode = ?   THEN 3  -- same pin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75488" y="263347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f.city_id = ?   THEN 2  -- same city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475488" y="281635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f.state = ?     THEN 1  -- same state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475488" y="299923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0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475488" y="318211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 AS priority_score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475488" y="336499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Food_Listings f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475488" y="354787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LEFT JOIN Cities c ON f.city_id = c.city_id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475488" y="373075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LEFT JOIN Users u  ON f.donor_id = u.user_id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475488" y="391363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f.status IN ('available','partially_allocated')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475488" y="409651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f.expiry_time &gt; NOW()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475488" y="427939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priority_score DESC, f.expiry_time ASC;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5760720" y="117043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Priority Score Breakdown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760720" y="1600200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1600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63640" y="160934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Expiry ≤ 5 hours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184708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Highest urgency — shown first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60720" y="219456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2194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63640" y="220370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Same Pincode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244144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Nearest food geographically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760720" y="278892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0" y="2788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63640" y="279806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Same City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30358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Local availability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760720" y="338328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0720" y="3383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263640" y="339242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Same State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63640" y="363016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Regional fallback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760720" y="3977640"/>
            <a:ext cx="384048" cy="38404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6072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263640" y="398678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Other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63640" y="422452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Shown last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Also uses: LEFT JOIN across 3 tables · parameterized queries (prevents SQL injection) · indexed status + expiry_time columns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 &amp; Authorization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74320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2743200" cy="5029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078992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051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Password Hashing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37160" cy="13716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6642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bcryptjs with salt rounds = 10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137160" cy="13716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3500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Plaintext password never stored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3063240"/>
            <a:ext cx="137160" cy="13716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30358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Hash comparison on login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3749040"/>
            <a:ext cx="137160" cy="13716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37216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Brute force resistant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91840" y="1005840"/>
            <a:ext cx="274320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91840" y="1005840"/>
            <a:ext cx="27432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078992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840480" y="1051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JWT Tokens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3474720" y="1691640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703320" y="16642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Signed with server secret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474720" y="2377440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703320" y="23500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7-day expiry window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474720" y="3063240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703320" y="30358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Payload: user_id, role, city_id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3474720" y="3749040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703320" y="37216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Stateless — no session store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217920" y="1005840"/>
            <a:ext cx="274320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217920" y="1005840"/>
            <a:ext cx="27432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078992"/>
            <a:ext cx="347472" cy="34747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766560" y="1051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Role-Based Access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6400800" y="1691640"/>
            <a:ext cx="137160" cy="1371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629400" y="16642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requireRole('donor') middleware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6400800" y="2377440"/>
            <a:ext cx="137160" cy="1371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629400" y="23500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requireRole('ngo') middleware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6400800" y="3063240"/>
            <a:ext cx="137160" cy="1371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629400" y="30358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403 Forbidden on role mismatch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6400800" y="3749040"/>
            <a:ext cx="137160" cy="1371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629400" y="37216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Route guards in React frontend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solidFill>
            <a:srgbClr val="DCFCE7"/>
          </a:solidFill>
          <a:ln w="6350">
            <a:solidFill>
              <a:srgbClr val="1A7A4A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502920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</a:rPr>
              <a:t>Frontend: Axios interceptor automatically attaches Bearer token to every API request — no manual token management in components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2743200" cy="3931920"/>
          </a:xfrm>
          <a:prstGeom prst="rect">
            <a:avLst/>
          </a:prstGeom>
          <a:solidFill>
            <a:srgbClr val="111827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27432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Frontend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664208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16276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</a:rPr>
              <a:t>React 18 + Vite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185416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21488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</a:rPr>
              <a:t>Tailwind CSS 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706624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26700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</a:rPr>
              <a:t>React Router v6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22783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" y="319125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</a:rPr>
              <a:t>Axios + JWT interceptor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37124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</a:rPr>
              <a:t>react-hot-toast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270248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" y="42336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</a:rPr>
              <a:t>lucide-react icons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0" y="1005840"/>
            <a:ext cx="2743200" cy="3931920"/>
          </a:xfrm>
          <a:prstGeom prst="rect">
            <a:avLst/>
          </a:prstGeom>
          <a:solidFill>
            <a:srgbClr val="111827"/>
          </a:solidFill>
          <a:ln w="19050">
            <a:solidFill>
              <a:srgbClr val="1A7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6120" y="1005840"/>
            <a:ext cx="2743200" cy="4572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Backend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29000" y="1664208"/>
            <a:ext cx="128016" cy="128016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48456" y="16276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</a:rPr>
              <a:t>Node.js + Express 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29000" y="2185416"/>
            <a:ext cx="128016" cy="128016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48456" y="21488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</a:rPr>
              <a:t>mysql2 (promise pool)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29000" y="2706624"/>
            <a:ext cx="128016" cy="128016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48456" y="26700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</a:rPr>
              <a:t>bcryptjs (password hash)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29000" y="3227832"/>
            <a:ext cx="128016" cy="128016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48456" y="319125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</a:rPr>
              <a:t>jsonwebtoken (JWT)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29000" y="3749040"/>
            <a:ext cx="128016" cy="128016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48456" y="37124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</a:rPr>
              <a:t>CORS middleware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29000" y="4270248"/>
            <a:ext cx="128016" cy="128016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48456" y="42336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</a:rPr>
              <a:t>RESTful API design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72200" y="1005840"/>
            <a:ext cx="2743200" cy="393192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72200" y="1005840"/>
            <a:ext cx="27432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Database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55080" y="1664208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74536" y="16276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</a:rPr>
              <a:t>MySQL 8.0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55080" y="218541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4536" y="21488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</a:rPr>
              <a:t>5 normalized tables (3NF)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55080" y="270662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74536" y="26700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</a:rPr>
              <a:t>Row-level locking (FOR UPDATE)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55080" y="322783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74536" y="319125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</a:rPr>
              <a:t>SQL Transactions (ACID)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355080" y="374904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74536" y="37124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</a:rPr>
              <a:t>Foreign key constraints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355080" y="4270248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74536" y="42336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</a:rPr>
              <a:t>ENUM + AUTO_INCREMENT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20040" y="4718304"/>
            <a:ext cx="8503920" cy="292608"/>
          </a:xfrm>
          <a:prstGeom prst="rect">
            <a:avLst/>
          </a:prstGeom>
          <a:solidFill>
            <a:srgbClr val="1F2937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React ↔ Axios → Express (JWT auth) → MySQL Connection Pool → Transactions → Response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1A7A4A">
              <a:alpha val="20000"/>
            </a:srgbClr>
          </a:solidFill>
          <a:ln w="12700">
            <a:solidFill>
              <a:srgbClr val="1A7A4A">
                <a:alpha val="20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57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65760" y="1234440"/>
            <a:ext cx="4206240" cy="749808"/>
          </a:xfrm>
          <a:prstGeom prst="rect">
            <a:avLst/>
          </a:prstGeom>
          <a:solidFill>
            <a:srgbClr val="111827"/>
          </a:solidFill>
          <a:ln w="6350">
            <a:solidFill>
              <a:srgbClr val="4ADE80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453896"/>
            <a:ext cx="310896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6112" y="13258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</a:rPr>
              <a:t>3NF Normalization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896112" y="16459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Cities table separated; no transitive dependencies across 5 tables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365760" y="2121408"/>
            <a:ext cx="4206240" cy="749808"/>
          </a:xfrm>
          <a:prstGeom prst="rect">
            <a:avLst/>
          </a:prstGeom>
          <a:solidFill>
            <a:srgbClr val="111827"/>
          </a:solidFill>
          <a:ln w="6350">
            <a:solidFill>
              <a:srgbClr val="4ADE80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340864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96112" y="221284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</a:rPr>
              <a:t>Primary &amp; Foreign Keys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96112" y="253288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Referential integrity enforced with CASCADE / SET NULL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365760" y="3008376"/>
            <a:ext cx="4206240" cy="749808"/>
          </a:xfrm>
          <a:prstGeom prst="rect">
            <a:avLst/>
          </a:prstGeom>
          <a:solidFill>
            <a:srgbClr val="111827"/>
          </a:solidFill>
          <a:ln w="6350">
            <a:solidFill>
              <a:srgbClr val="4ADE80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227832"/>
            <a:ext cx="310896" cy="3108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96112" y="309981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</a:rPr>
              <a:t>ENUM &amp; Constraints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896112" y="341985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Role, status columns restricted at DB level; NOT NULL on critical fields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365760" y="3895344"/>
            <a:ext cx="4206240" cy="749808"/>
          </a:xfrm>
          <a:prstGeom prst="rect">
            <a:avLst/>
          </a:prstGeom>
          <a:solidFill>
            <a:srgbClr val="111827"/>
          </a:solidFill>
          <a:ln w="6350">
            <a:solidFill>
              <a:srgbClr val="4ADE80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4114800"/>
            <a:ext cx="310896" cy="31089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96112" y="398678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</a:rPr>
              <a:t>SQL Joins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896112" y="430682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3-table LEFT JOIN with dynamic CASE priority scoring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4846320" y="1234440"/>
            <a:ext cx="4206240" cy="749808"/>
          </a:xfrm>
          <a:prstGeom prst="rect">
            <a:avLst/>
          </a:prstGeom>
          <a:solidFill>
            <a:srgbClr val="111827"/>
          </a:solidFill>
          <a:ln w="6350">
            <a:solidFill>
              <a:srgbClr val="4ADE80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1453896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376672" y="13258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</a:rPr>
              <a:t>Transactions (ACID)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5376672" y="16459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BEGIN → lock → read → write → COMMIT atomically</a:t>
            </a:r>
            <a:endParaRPr lang="en-US" sz="1050" dirty="0"/>
          </a:p>
        </p:txBody>
      </p:sp>
      <p:sp>
        <p:nvSpPr>
          <p:cNvPr id="25" name="Shape 17"/>
          <p:cNvSpPr/>
          <p:nvPr/>
        </p:nvSpPr>
        <p:spPr>
          <a:xfrm>
            <a:off x="4846320" y="2121408"/>
            <a:ext cx="4206240" cy="749808"/>
          </a:xfrm>
          <a:prstGeom prst="rect">
            <a:avLst/>
          </a:prstGeom>
          <a:solidFill>
            <a:srgbClr val="111827"/>
          </a:solidFill>
          <a:ln w="6350">
            <a:solidFill>
              <a:srgbClr val="4ADE80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6048" y="2340864"/>
            <a:ext cx="310896" cy="310896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376672" y="221284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</a:rPr>
              <a:t>Row-Level Locking</a:t>
            </a:r>
            <a:endParaRPr lang="en-US" sz="1200" dirty="0"/>
          </a:p>
        </p:txBody>
      </p:sp>
      <p:sp>
        <p:nvSpPr>
          <p:cNvPr id="28" name="Text 19"/>
          <p:cNvSpPr/>
          <p:nvPr/>
        </p:nvSpPr>
        <p:spPr>
          <a:xfrm>
            <a:off x="5376672" y="253288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SELECT … FOR UPDATE prevents race conditions in concurrent allocation</a:t>
            </a:r>
            <a:endParaRPr lang="en-US" sz="1050" dirty="0"/>
          </a:p>
        </p:txBody>
      </p:sp>
      <p:sp>
        <p:nvSpPr>
          <p:cNvPr id="29" name="Shape 20"/>
          <p:cNvSpPr/>
          <p:nvPr/>
        </p:nvSpPr>
        <p:spPr>
          <a:xfrm>
            <a:off x="4846320" y="3008376"/>
            <a:ext cx="4206240" cy="749808"/>
          </a:xfrm>
          <a:prstGeom prst="rect">
            <a:avLst/>
          </a:prstGeom>
          <a:solidFill>
            <a:srgbClr val="111827"/>
          </a:solidFill>
          <a:ln w="6350">
            <a:solidFill>
              <a:srgbClr val="4ADE80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6048" y="3227832"/>
            <a:ext cx="310896" cy="310896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376672" y="309981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</a:rPr>
              <a:t>Partial Allocation</a:t>
            </a:r>
            <a:endParaRPr lang="en-US" sz="1200" dirty="0"/>
          </a:p>
        </p:txBody>
      </p:sp>
      <p:sp>
        <p:nvSpPr>
          <p:cNvPr id="32" name="Text 22"/>
          <p:cNvSpPr/>
          <p:nvPr/>
        </p:nvSpPr>
        <p:spPr>
          <a:xfrm>
            <a:off x="5376672" y="341985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MIN(requested, remaining) with status tracking across multiple NGOs</a:t>
            </a:r>
            <a:endParaRPr lang="en-US" sz="1050" dirty="0"/>
          </a:p>
        </p:txBody>
      </p:sp>
      <p:sp>
        <p:nvSpPr>
          <p:cNvPr id="33" name="Shape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FoodLink — Reducing Food Waste with DBMS  ·  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FoodLink – DBMS Course Project</dc:title>
  <dc:subject>PptxGenJS Presentation</dc:subject>
  <dc:creator>PptxGenJS</dc:creator>
  <cp:lastModifiedBy>PptxGenJS</cp:lastModifiedBy>
  <cp:revision>1</cp:revision>
  <dcterms:created xsi:type="dcterms:W3CDTF">2026-04-22T20:11:27Z</dcterms:created>
  <dcterms:modified xsi:type="dcterms:W3CDTF">2026-04-22T20:11:27Z</dcterms:modified>
</cp:coreProperties>
</file>